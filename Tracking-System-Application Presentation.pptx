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Cooper BT Light" panose="020B0604020202020204" charset="0"/>
      <p:regular r:id="rId22"/>
    </p:embeddedFont>
    <p:embeddedFont>
      <p:font typeface="Cooper BT Medium" panose="020B0604020202020204" charset="0"/>
      <p:regular r:id="rId23"/>
    </p:embeddedFont>
    <p:embeddedFont>
      <p:font typeface="Georgia Pro Light" panose="02040302050405020303" pitchFamily="18" charset="0"/>
      <p:regular r:id="rId24"/>
      <p:italic r:id="rId25"/>
    </p:embeddedFont>
    <p:embeddedFont>
      <p:font typeface="TT Interphases" panose="020B0604020202020204" charset="0"/>
      <p:regular r:id="rId26"/>
    </p:embeddedFont>
    <p:embeddedFont>
      <p:font typeface="TT Interphases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6" d="100"/>
          <a:sy n="26" d="100"/>
        </p:scale>
        <p:origin x="72" y="7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627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6750"/>
            <a:ext cx="8324850" cy="6856149"/>
            <a:chOff x="0" y="0"/>
            <a:chExt cx="11099800" cy="9141532"/>
          </a:xfrm>
        </p:grpSpPr>
        <p:sp>
          <p:nvSpPr>
            <p:cNvPr id="6" name="TextBox 6"/>
            <p:cNvSpPr txBox="1"/>
            <p:nvPr/>
          </p:nvSpPr>
          <p:spPr>
            <a:xfrm>
              <a:off x="0" y="8623372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</a:pPr>
              <a:r>
                <a:rPr lang="en-US" sz="2399" spc="-47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DevOps Insights and Technology Stack Overview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9075"/>
              <a:ext cx="11099800" cy="7942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499"/>
                </a:lnSpc>
              </a:pPr>
              <a:r>
                <a:rPr lang="en-US" sz="11499" spc="-229" dirty="0">
                  <a:solidFill>
                    <a:srgbClr val="E0E6F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Tracking-System-Application Presentation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296400" y="8155899"/>
            <a:ext cx="832485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b="1">
                <a:solidFill>
                  <a:srgbClr val="A4BAD5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Saketh Vishwanatham, Gollakota Satya Kartik </a:t>
            </a:r>
          </a:p>
          <a:p>
            <a:pPr marL="0" lvl="0" indent="0" algn="l">
              <a:lnSpc>
                <a:spcPts val="3900"/>
              </a:lnSpc>
            </a:pPr>
            <a:endParaRPr lang="en-US" sz="3000" b="1">
              <a:solidFill>
                <a:srgbClr val="A4BAD5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1028700"/>
            <a:ext cx="8662192" cy="7308796"/>
            <a:chOff x="0" y="0"/>
            <a:chExt cx="11549589" cy="9745062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549589" cy="1569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910"/>
                </a:lnSpc>
              </a:pPr>
              <a:r>
                <a:rPr lang="en-US" sz="8100">
                  <a:solidFill>
                    <a:srgbClr val="F0F4F8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Problem Statement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43146"/>
              <a:ext cx="11549589" cy="77019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19"/>
                </a:lnSpc>
              </a:pPr>
              <a:r>
                <a:rPr lang="en-US" sz="3299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 the fast-growing Indian e-commerce and logistics landscape, customers, logistics teams, and administrators face challenges in real-time shipment tracking, delivery coordination, and system visibility.</a:t>
              </a:r>
            </a:p>
            <a:p>
              <a:pPr marL="0" lvl="0" indent="0" algn="l">
                <a:lnSpc>
                  <a:spcPts val="4619"/>
                </a:lnSpc>
              </a:pPr>
              <a:endParaRPr lang="en-US" sz="3299">
                <a:solidFill>
                  <a:srgbClr val="F0F4F8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  <a:p>
              <a:pPr marL="0" lvl="0" indent="0" algn="l">
                <a:lnSpc>
                  <a:spcPts val="4619"/>
                </a:lnSpc>
              </a:pPr>
              <a:r>
                <a:rPr lang="en-US" sz="3299">
                  <a:solidFill>
                    <a:srgbClr val="F0F4F8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Traditional systems often lack automation, scalability, and end-to-end monitoring, leading to delays, manual errors, and poor customer experience.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1790060"/>
            <a:ext cx="7936659" cy="6684010"/>
            <a:chOff x="0" y="0"/>
            <a:chExt cx="10582212" cy="8912014"/>
          </a:xfrm>
        </p:grpSpPr>
        <p:sp>
          <p:nvSpPr>
            <p:cNvPr id="3" name="TextBox 3"/>
            <p:cNvSpPr txBox="1"/>
            <p:nvPr/>
          </p:nvSpPr>
          <p:spPr>
            <a:xfrm>
              <a:off x="0" y="4737100"/>
              <a:ext cx="10582212" cy="4174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59"/>
                </a:lnSpc>
                <a:spcBef>
                  <a:spcPct val="0"/>
                </a:spcBef>
              </a:pPr>
              <a:r>
                <a:rPr lang="en-US" sz="3199" u="none" strike="noStrike" spc="-63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Tracking-System-Application enhances shipment visibility for customers, logistics teams, and admins in the e-commerce space.</a:t>
              </a:r>
            </a:p>
            <a:p>
              <a:pPr marL="0" lvl="0" indent="0" algn="l">
                <a:lnSpc>
                  <a:spcPts val="4159"/>
                </a:lnSpc>
                <a:spcBef>
                  <a:spcPct val="0"/>
                </a:spcBef>
              </a:pPr>
              <a:r>
                <a:rPr lang="en-US" sz="3199" u="none" strike="noStrike" spc="-63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It connects every corner of Bharat with reliable delivery and advanced tracking.</a:t>
              </a:r>
            </a:p>
            <a:p>
              <a:pPr marL="0" lvl="0" indent="0" algn="l">
                <a:lnSpc>
                  <a:spcPts val="4159"/>
                </a:lnSpc>
                <a:spcBef>
                  <a:spcPct val="0"/>
                </a:spcBef>
              </a:pPr>
              <a:endParaRPr lang="en-US" sz="3199" u="none" strike="noStrike" spc="-63">
                <a:solidFill>
                  <a:srgbClr val="CFD8E9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0582212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>
                  <a:solidFill>
                    <a:srgbClr val="E0E6F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Project Overview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43300"/>
              <a:ext cx="10582212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 spc="-48">
                  <a:solidFill>
                    <a:srgbClr val="E0E6F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Introduction to the Tracking-System-Application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627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666750"/>
            <a:ext cx="6886575" cy="8953500"/>
            <a:chOff x="0" y="0"/>
            <a:chExt cx="1066911" cy="13871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6911" cy="1387131"/>
            </a:xfrm>
            <a:custGeom>
              <a:avLst/>
              <a:gdLst/>
              <a:ahLst/>
              <a:cxnLst/>
              <a:rect l="l" t="t" r="r" b="b"/>
              <a:pathLst>
                <a:path w="1066911" h="1387131">
                  <a:moveTo>
                    <a:pt x="35975" y="0"/>
                  </a:moveTo>
                  <a:lnTo>
                    <a:pt x="1030936" y="0"/>
                  </a:lnTo>
                  <a:cubicBezTo>
                    <a:pt x="1040477" y="0"/>
                    <a:pt x="1049627" y="3790"/>
                    <a:pt x="1056374" y="10537"/>
                  </a:cubicBezTo>
                  <a:cubicBezTo>
                    <a:pt x="1063120" y="17283"/>
                    <a:pt x="1066911" y="26434"/>
                    <a:pt x="1066911" y="35975"/>
                  </a:cubicBezTo>
                  <a:lnTo>
                    <a:pt x="1066911" y="1351157"/>
                  </a:lnTo>
                  <a:cubicBezTo>
                    <a:pt x="1066911" y="1360698"/>
                    <a:pt x="1063120" y="1369848"/>
                    <a:pt x="1056374" y="1376595"/>
                  </a:cubicBezTo>
                  <a:cubicBezTo>
                    <a:pt x="1049627" y="1383341"/>
                    <a:pt x="1040477" y="1387131"/>
                    <a:pt x="1030936" y="1387131"/>
                  </a:cubicBezTo>
                  <a:lnTo>
                    <a:pt x="35975" y="1387131"/>
                  </a:lnTo>
                  <a:cubicBezTo>
                    <a:pt x="16106" y="1387131"/>
                    <a:pt x="0" y="1371025"/>
                    <a:pt x="0" y="1351157"/>
                  </a:cubicBezTo>
                  <a:lnTo>
                    <a:pt x="0" y="35975"/>
                  </a:lnTo>
                  <a:cubicBezTo>
                    <a:pt x="0" y="26434"/>
                    <a:pt x="3790" y="17283"/>
                    <a:pt x="10537" y="10537"/>
                  </a:cubicBezTo>
                  <a:cubicBezTo>
                    <a:pt x="17283" y="3790"/>
                    <a:pt x="26434" y="0"/>
                    <a:pt x="35975" y="0"/>
                  </a:cubicBezTo>
                  <a:close/>
                </a:path>
              </a:pathLst>
            </a:custGeom>
            <a:blipFill>
              <a:blip r:embed="rId2"/>
              <a:stretch>
                <a:fillRect t="-2591" b="-259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Freeform 13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4915904"/>
            <a:ext cx="4010025" cy="4704346"/>
            <a:chOff x="0" y="0"/>
            <a:chExt cx="1056138" cy="12390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6138" cy="1239005"/>
            </a:xfrm>
            <a:custGeom>
              <a:avLst/>
              <a:gdLst/>
              <a:ahLst/>
              <a:cxnLst/>
              <a:rect l="l" t="t" r="r" b="b"/>
              <a:pathLst>
                <a:path w="1056138" h="1239005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1161779"/>
                  </a:lnTo>
                  <a:cubicBezTo>
                    <a:pt x="1056138" y="1204430"/>
                    <a:pt x="1021563" y="1239005"/>
                    <a:pt x="978913" y="1239005"/>
                  </a:cubicBezTo>
                  <a:lnTo>
                    <a:pt x="77226" y="1239005"/>
                  </a:lnTo>
                  <a:cubicBezTo>
                    <a:pt x="34575" y="1239005"/>
                    <a:pt x="0" y="1204430"/>
                    <a:pt x="0" y="1161779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3A4A6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056138" cy="1267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05025" y="1373708"/>
            <a:ext cx="14077950" cy="217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3"/>
              </a:lnSpc>
              <a:spcBef>
                <a:spcPct val="0"/>
              </a:spcBef>
            </a:pPr>
            <a:r>
              <a:rPr lang="en-US" sz="8393" u="none" strike="noStrike" spc="-167">
                <a:solidFill>
                  <a:srgbClr val="E0E6F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Tracking-System-Application: Importance of Tracking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15240" y="5266335"/>
            <a:ext cx="3313044" cy="2922196"/>
            <a:chOff x="0" y="0"/>
            <a:chExt cx="4417392" cy="3896261"/>
          </a:xfrm>
        </p:grpSpPr>
        <p:sp>
          <p:nvSpPr>
            <p:cNvPr id="7" name="TextBox 7"/>
            <p:cNvSpPr txBox="1"/>
            <p:nvPr/>
          </p:nvSpPr>
          <p:spPr>
            <a:xfrm>
              <a:off x="0" y="1816001"/>
              <a:ext cx="4417392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Connects 28 states and 8 union territories with 500+ service centers for nationwide reach.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417392" cy="130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E0E6F0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Pan-India Coverage</a:t>
              </a:r>
            </a:p>
          </p:txBody>
        </p:sp>
      </p:grpSp>
      <p:sp>
        <p:nvSpPr>
          <p:cNvPr id="9" name="Freeform 9"/>
          <p:cNvSpPr/>
          <p:nvPr/>
        </p:nvSpPr>
        <p:spPr>
          <a:xfrm flipH="1" flipV="1">
            <a:off x="16411917" y="2994498"/>
            <a:ext cx="1876083" cy="1497455"/>
          </a:xfrm>
          <a:custGeom>
            <a:avLst/>
            <a:gdLst/>
            <a:ahLst/>
            <a:cxnLst/>
            <a:rect l="l" t="t" r="r" b="b"/>
            <a:pathLst>
              <a:path w="1876083" h="1497455">
                <a:moveTo>
                  <a:pt x="1876083" y="1497455"/>
                </a:moveTo>
                <a:lnTo>
                  <a:pt x="0" y="1497455"/>
                </a:lnTo>
                <a:lnTo>
                  <a:pt x="0" y="0"/>
                </a:lnTo>
                <a:lnTo>
                  <a:pt x="1876083" y="0"/>
                </a:lnTo>
                <a:lnTo>
                  <a:pt x="1876083" y="14974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5133975" y="4915904"/>
            <a:ext cx="4010025" cy="4704346"/>
            <a:chOff x="0" y="0"/>
            <a:chExt cx="1056138" cy="12390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6138" cy="1239005"/>
            </a:xfrm>
            <a:custGeom>
              <a:avLst/>
              <a:gdLst/>
              <a:ahLst/>
              <a:cxnLst/>
              <a:rect l="l" t="t" r="r" b="b"/>
              <a:pathLst>
                <a:path w="1056138" h="1239005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1161779"/>
                  </a:lnTo>
                  <a:cubicBezTo>
                    <a:pt x="1056138" y="1204430"/>
                    <a:pt x="1021563" y="1239005"/>
                    <a:pt x="978913" y="1239005"/>
                  </a:cubicBezTo>
                  <a:lnTo>
                    <a:pt x="77226" y="1239005"/>
                  </a:lnTo>
                  <a:cubicBezTo>
                    <a:pt x="34575" y="1239005"/>
                    <a:pt x="0" y="1204430"/>
                    <a:pt x="0" y="1161779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3A4A6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56138" cy="1267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482465" y="5266335"/>
            <a:ext cx="3313044" cy="3417496"/>
            <a:chOff x="0" y="0"/>
            <a:chExt cx="4417392" cy="4556661"/>
          </a:xfrm>
        </p:grpSpPr>
        <p:sp>
          <p:nvSpPr>
            <p:cNvPr id="14" name="TextBox 14"/>
            <p:cNvSpPr txBox="1"/>
            <p:nvPr/>
          </p:nvSpPr>
          <p:spPr>
            <a:xfrm>
              <a:off x="0" y="2476401"/>
              <a:ext cx="4417392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Offers 2–4 hour intra-city delivery and guaranteed same-day service before 9 PM.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417392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E0E6F0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Same-Day &amp; Hyperlocal Delivery: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601200" y="4915904"/>
            <a:ext cx="4010025" cy="4704346"/>
            <a:chOff x="0" y="0"/>
            <a:chExt cx="1056138" cy="123900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56138" cy="1239005"/>
            </a:xfrm>
            <a:custGeom>
              <a:avLst/>
              <a:gdLst/>
              <a:ahLst/>
              <a:cxnLst/>
              <a:rect l="l" t="t" r="r" b="b"/>
              <a:pathLst>
                <a:path w="1056138" h="1239005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1161779"/>
                  </a:lnTo>
                  <a:cubicBezTo>
                    <a:pt x="1056138" y="1204430"/>
                    <a:pt x="1021563" y="1239005"/>
                    <a:pt x="978913" y="1239005"/>
                  </a:cubicBezTo>
                  <a:lnTo>
                    <a:pt x="77226" y="1239005"/>
                  </a:lnTo>
                  <a:cubicBezTo>
                    <a:pt x="34575" y="1239005"/>
                    <a:pt x="0" y="1204430"/>
                    <a:pt x="0" y="1161779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3A4A6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056138" cy="1267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949690" y="5266335"/>
            <a:ext cx="3313044" cy="2922196"/>
            <a:chOff x="0" y="0"/>
            <a:chExt cx="4417392" cy="3896261"/>
          </a:xfrm>
        </p:grpSpPr>
        <p:sp>
          <p:nvSpPr>
            <p:cNvPr id="20" name="TextBox 20"/>
            <p:cNvSpPr txBox="1"/>
            <p:nvPr/>
          </p:nvSpPr>
          <p:spPr>
            <a:xfrm>
              <a:off x="0" y="1816001"/>
              <a:ext cx="4417392" cy="20802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Supports UPI, digital wallets, and cash on delivery for seamless transactions.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417392" cy="130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E0E6F0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Digital &amp; Cash Payments: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885058" y="4915904"/>
            <a:ext cx="4010025" cy="4704346"/>
            <a:chOff x="0" y="0"/>
            <a:chExt cx="1056138" cy="123900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56138" cy="1239005"/>
            </a:xfrm>
            <a:custGeom>
              <a:avLst/>
              <a:gdLst/>
              <a:ahLst/>
              <a:cxnLst/>
              <a:rect l="l" t="t" r="r" b="b"/>
              <a:pathLst>
                <a:path w="1056138" h="1239005">
                  <a:moveTo>
                    <a:pt x="77226" y="0"/>
                  </a:moveTo>
                  <a:lnTo>
                    <a:pt x="978913" y="0"/>
                  </a:lnTo>
                  <a:cubicBezTo>
                    <a:pt x="1021563" y="0"/>
                    <a:pt x="1056138" y="34575"/>
                    <a:pt x="1056138" y="77226"/>
                  </a:cubicBezTo>
                  <a:lnTo>
                    <a:pt x="1056138" y="1161779"/>
                  </a:lnTo>
                  <a:cubicBezTo>
                    <a:pt x="1056138" y="1204430"/>
                    <a:pt x="1021563" y="1239005"/>
                    <a:pt x="978913" y="1239005"/>
                  </a:cubicBezTo>
                  <a:lnTo>
                    <a:pt x="77226" y="1239005"/>
                  </a:lnTo>
                  <a:cubicBezTo>
                    <a:pt x="34575" y="1239005"/>
                    <a:pt x="0" y="1204430"/>
                    <a:pt x="0" y="1161779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solidFill>
              <a:srgbClr val="3A4A63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1056138" cy="1267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233549" y="5266335"/>
            <a:ext cx="3313044" cy="3312721"/>
            <a:chOff x="0" y="0"/>
            <a:chExt cx="4417392" cy="4416961"/>
          </a:xfrm>
        </p:grpSpPr>
        <p:sp>
          <p:nvSpPr>
            <p:cNvPr id="26" name="TextBox 26"/>
            <p:cNvSpPr txBox="1"/>
            <p:nvPr/>
          </p:nvSpPr>
          <p:spPr>
            <a:xfrm>
              <a:off x="0" y="1816001"/>
              <a:ext cx="4417392" cy="2600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Includes warehousing, API-based e-commerce integration, rural delivery, and festival-special services.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417392" cy="130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E0E6F0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End-to-End Logistics: 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40215" y="2515653"/>
            <a:ext cx="13156385" cy="6742647"/>
          </a:xfrm>
          <a:custGeom>
            <a:avLst/>
            <a:gdLst/>
            <a:ahLst/>
            <a:cxnLst/>
            <a:rect l="l" t="t" r="r" b="b"/>
            <a:pathLst>
              <a:path w="13156385" h="6742647">
                <a:moveTo>
                  <a:pt x="0" y="0"/>
                </a:moveTo>
                <a:lnTo>
                  <a:pt x="13156385" y="0"/>
                </a:lnTo>
                <a:lnTo>
                  <a:pt x="13156385" y="6742647"/>
                </a:lnTo>
                <a:lnTo>
                  <a:pt x="0" y="6742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858196"/>
            <a:ext cx="9591498" cy="1211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75"/>
              </a:lnSpc>
              <a:spcBef>
                <a:spcPct val="0"/>
              </a:spcBef>
            </a:pPr>
            <a:r>
              <a:rPr lang="en-US" sz="9075" spc="-181">
                <a:solidFill>
                  <a:srgbClr val="E0E6F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0" y="6412579"/>
            <a:ext cx="8324850" cy="153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75"/>
              </a:lnSpc>
              <a:spcBef>
                <a:spcPct val="0"/>
              </a:spcBef>
            </a:pPr>
            <a:r>
              <a:rPr lang="en-US" sz="3134" u="none" strike="noStrike" spc="-62">
                <a:solidFill>
                  <a:srgbClr val="CFD8E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architecture of the Tracking-System-Application integrates multiple technologies, ensuring seamless operation.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46849" y="2851863"/>
            <a:ext cx="8823952" cy="229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46"/>
              </a:lnSpc>
              <a:spcBef>
                <a:spcPct val="0"/>
              </a:spcBef>
            </a:pPr>
            <a:r>
              <a:rPr lang="en-US" sz="8846" u="none" strike="noStrike" spc="-176">
                <a:solidFill>
                  <a:srgbClr val="E0E6F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Architecture and Technology Stack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0" y="5726708"/>
            <a:ext cx="8324850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Overview of system components and their interactions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627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5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56883" y="0"/>
            <a:ext cx="6714937" cy="10287000"/>
            <a:chOff x="0" y="0"/>
            <a:chExt cx="176854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8543" cy="2709333"/>
            </a:xfrm>
            <a:custGeom>
              <a:avLst/>
              <a:gdLst/>
              <a:ahLst/>
              <a:cxnLst/>
              <a:rect l="l" t="t" r="r" b="b"/>
              <a:pathLst>
                <a:path w="1768543" h="2709333">
                  <a:moveTo>
                    <a:pt x="0" y="0"/>
                  </a:moveTo>
                  <a:lnTo>
                    <a:pt x="1768543" y="0"/>
                  </a:lnTo>
                  <a:lnTo>
                    <a:pt x="1768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FD8E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768543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70065" y="1232919"/>
            <a:ext cx="5488572" cy="7474979"/>
            <a:chOff x="0" y="0"/>
            <a:chExt cx="1170208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40906" y="0"/>
                  </a:moveTo>
                  <a:lnTo>
                    <a:pt x="1129302" y="0"/>
                  </a:lnTo>
                  <a:cubicBezTo>
                    <a:pt x="1140151" y="0"/>
                    <a:pt x="1150555" y="4310"/>
                    <a:pt x="1158227" y="11981"/>
                  </a:cubicBezTo>
                  <a:cubicBezTo>
                    <a:pt x="1165898" y="19652"/>
                    <a:pt x="1170208" y="30057"/>
                    <a:pt x="1170208" y="40906"/>
                  </a:cubicBezTo>
                  <a:lnTo>
                    <a:pt x="1170208" y="1552819"/>
                  </a:lnTo>
                  <a:cubicBezTo>
                    <a:pt x="1170208" y="1563668"/>
                    <a:pt x="1165898" y="1574073"/>
                    <a:pt x="1158227" y="1581744"/>
                  </a:cubicBezTo>
                  <a:cubicBezTo>
                    <a:pt x="1150555" y="1589416"/>
                    <a:pt x="1140151" y="1593725"/>
                    <a:pt x="1129302" y="1593725"/>
                  </a:cubicBezTo>
                  <a:lnTo>
                    <a:pt x="40906" y="1593725"/>
                  </a:lnTo>
                  <a:cubicBezTo>
                    <a:pt x="30057" y="1593725"/>
                    <a:pt x="19652" y="1589416"/>
                    <a:pt x="11981" y="1581744"/>
                  </a:cubicBezTo>
                  <a:cubicBezTo>
                    <a:pt x="4310" y="1574073"/>
                    <a:pt x="0" y="1563668"/>
                    <a:pt x="0" y="1552819"/>
                  </a:cubicBezTo>
                  <a:lnTo>
                    <a:pt x="0" y="40906"/>
                  </a:lnTo>
                  <a:cubicBezTo>
                    <a:pt x="0" y="30057"/>
                    <a:pt x="4310" y="19652"/>
                    <a:pt x="11981" y="11981"/>
                  </a:cubicBezTo>
                  <a:cubicBezTo>
                    <a:pt x="19652" y="4310"/>
                    <a:pt x="30057" y="0"/>
                    <a:pt x="40906" y="0"/>
                  </a:cubicBez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9527" y="652783"/>
            <a:ext cx="10675316" cy="217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3"/>
              </a:lnSpc>
              <a:spcBef>
                <a:spcPct val="0"/>
              </a:spcBef>
            </a:pPr>
            <a:r>
              <a:rPr lang="en-US" sz="8393" u="none" strike="noStrike" spc="-167">
                <a:solidFill>
                  <a:srgbClr val="E0E6F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Technologies, Tools, and Components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61180" y="3197860"/>
            <a:ext cx="10681175" cy="6208437"/>
            <a:chOff x="0" y="0"/>
            <a:chExt cx="2813149" cy="16351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13149" cy="1635144"/>
            </a:xfrm>
            <a:custGeom>
              <a:avLst/>
              <a:gdLst/>
              <a:ahLst/>
              <a:cxnLst/>
              <a:rect l="l" t="t" r="r" b="b"/>
              <a:pathLst>
                <a:path w="2813149" h="1635144">
                  <a:moveTo>
                    <a:pt x="28993" y="0"/>
                  </a:moveTo>
                  <a:lnTo>
                    <a:pt x="2784156" y="0"/>
                  </a:lnTo>
                  <a:cubicBezTo>
                    <a:pt x="2800168" y="0"/>
                    <a:pt x="2813149" y="12981"/>
                    <a:pt x="2813149" y="28993"/>
                  </a:cubicBezTo>
                  <a:lnTo>
                    <a:pt x="2813149" y="1606151"/>
                  </a:lnTo>
                  <a:cubicBezTo>
                    <a:pt x="2813149" y="1613841"/>
                    <a:pt x="2810094" y="1621215"/>
                    <a:pt x="2804657" y="1626652"/>
                  </a:cubicBezTo>
                  <a:cubicBezTo>
                    <a:pt x="2799220" y="1632089"/>
                    <a:pt x="2791845" y="1635144"/>
                    <a:pt x="2784156" y="1635144"/>
                  </a:cubicBezTo>
                  <a:lnTo>
                    <a:pt x="28993" y="1635144"/>
                  </a:lnTo>
                  <a:cubicBezTo>
                    <a:pt x="21303" y="1635144"/>
                    <a:pt x="13929" y="1632089"/>
                    <a:pt x="8492" y="1626652"/>
                  </a:cubicBezTo>
                  <a:cubicBezTo>
                    <a:pt x="3055" y="1621215"/>
                    <a:pt x="0" y="1613841"/>
                    <a:pt x="0" y="1606151"/>
                  </a:cubicBezTo>
                  <a:lnTo>
                    <a:pt x="0" y="28993"/>
                  </a:lnTo>
                  <a:cubicBezTo>
                    <a:pt x="0" y="21303"/>
                    <a:pt x="3055" y="13929"/>
                    <a:pt x="8492" y="8492"/>
                  </a:cubicBezTo>
                  <a:cubicBezTo>
                    <a:pt x="13929" y="3055"/>
                    <a:pt x="21303" y="0"/>
                    <a:pt x="28993" y="0"/>
                  </a:cubicBezTo>
                  <a:close/>
                </a:path>
              </a:pathLst>
            </a:custGeom>
            <a:solidFill>
              <a:srgbClr val="52627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813149" cy="16637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61180" y="3925591"/>
            <a:ext cx="10433664" cy="4695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2" lvl="1" indent="-323846" algn="just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Application Layer:</a:t>
            </a:r>
            <a:r>
              <a:rPr lang="en-US" sz="2999" dirty="0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Node.js, HTML, CSS, JavaScript</a:t>
            </a:r>
          </a:p>
          <a:p>
            <a:pPr marL="647692" lvl="1" indent="-323846" algn="just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Database Layer:</a:t>
            </a:r>
            <a:r>
              <a:rPr lang="en-US" sz="2999" dirty="0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MongoDB, MongoDB Compass </a:t>
            </a:r>
          </a:p>
          <a:p>
            <a:pPr marL="647692" lvl="1" indent="-323846" algn="just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Containerization:</a:t>
            </a:r>
            <a:r>
              <a:rPr lang="en-US" sz="2999" dirty="0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Docker, Docker Compose Docker Hub </a:t>
            </a:r>
          </a:p>
          <a:p>
            <a:pPr marL="647692" lvl="1" indent="-323846" algn="just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Container Orchestration </a:t>
            </a:r>
            <a:r>
              <a:rPr lang="en-US" sz="2999" dirty="0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Kubernetes (K8s), Deployments, Config via YAML</a:t>
            </a:r>
          </a:p>
          <a:p>
            <a:pPr marL="647692" lvl="1" indent="-323846" algn="just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CI/CD Pipeline: </a:t>
            </a:r>
            <a:r>
              <a:rPr lang="en-US" sz="2999" dirty="0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Jenkins</a:t>
            </a:r>
          </a:p>
          <a:p>
            <a:pPr marL="647692" lvl="1" indent="-323846" algn="just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Cloud / Infrastructure: </a:t>
            </a:r>
            <a:r>
              <a:rPr lang="en-US" sz="2999" dirty="0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AWS EC2</a:t>
            </a:r>
          </a:p>
          <a:p>
            <a:pPr marL="647692" lvl="1" indent="-323846" algn="just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Monitoring and observability tool:</a:t>
            </a:r>
            <a:r>
              <a:rPr lang="en-US" sz="2999" dirty="0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Grafana, Prometheus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E0E6F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56883" y="0"/>
            <a:ext cx="6714937" cy="10287000"/>
            <a:chOff x="0" y="0"/>
            <a:chExt cx="176854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8543" cy="2709333"/>
            </a:xfrm>
            <a:custGeom>
              <a:avLst/>
              <a:gdLst/>
              <a:ahLst/>
              <a:cxnLst/>
              <a:rect l="l" t="t" r="r" b="b"/>
              <a:pathLst>
                <a:path w="1768543" h="2709333">
                  <a:moveTo>
                    <a:pt x="0" y="0"/>
                  </a:moveTo>
                  <a:lnTo>
                    <a:pt x="1768543" y="0"/>
                  </a:lnTo>
                  <a:lnTo>
                    <a:pt x="1768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FD8E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768543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270065" y="1232919"/>
            <a:ext cx="5488572" cy="7474979"/>
            <a:chOff x="0" y="0"/>
            <a:chExt cx="1170208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40906" y="0"/>
                  </a:moveTo>
                  <a:lnTo>
                    <a:pt x="1129302" y="0"/>
                  </a:lnTo>
                  <a:cubicBezTo>
                    <a:pt x="1140151" y="0"/>
                    <a:pt x="1150555" y="4310"/>
                    <a:pt x="1158227" y="11981"/>
                  </a:cubicBezTo>
                  <a:cubicBezTo>
                    <a:pt x="1165898" y="19652"/>
                    <a:pt x="1170208" y="30057"/>
                    <a:pt x="1170208" y="40906"/>
                  </a:cubicBezTo>
                  <a:lnTo>
                    <a:pt x="1170208" y="1552819"/>
                  </a:lnTo>
                  <a:cubicBezTo>
                    <a:pt x="1170208" y="1563668"/>
                    <a:pt x="1165898" y="1574073"/>
                    <a:pt x="1158227" y="1581744"/>
                  </a:cubicBezTo>
                  <a:cubicBezTo>
                    <a:pt x="1150555" y="1589416"/>
                    <a:pt x="1140151" y="1593725"/>
                    <a:pt x="1129302" y="1593725"/>
                  </a:cubicBezTo>
                  <a:lnTo>
                    <a:pt x="40906" y="1593725"/>
                  </a:lnTo>
                  <a:cubicBezTo>
                    <a:pt x="30057" y="1593725"/>
                    <a:pt x="19652" y="1589416"/>
                    <a:pt x="11981" y="1581744"/>
                  </a:cubicBezTo>
                  <a:cubicBezTo>
                    <a:pt x="4310" y="1574073"/>
                    <a:pt x="0" y="1563668"/>
                    <a:pt x="0" y="1552819"/>
                  </a:cubicBezTo>
                  <a:lnTo>
                    <a:pt x="0" y="40906"/>
                  </a:lnTo>
                  <a:cubicBezTo>
                    <a:pt x="0" y="30057"/>
                    <a:pt x="4310" y="19652"/>
                    <a:pt x="11981" y="11981"/>
                  </a:cubicBezTo>
                  <a:cubicBezTo>
                    <a:pt x="19652" y="4310"/>
                    <a:pt x="30057" y="0"/>
                    <a:pt x="409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32371" y="545863"/>
            <a:ext cx="11138792" cy="1118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3"/>
              </a:lnSpc>
              <a:spcBef>
                <a:spcPct val="0"/>
              </a:spcBef>
            </a:pPr>
            <a:r>
              <a:rPr lang="en-US" sz="8393" spc="-167">
                <a:solidFill>
                  <a:srgbClr val="E0E6F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</a:t>
            </a:r>
            <a:r>
              <a:rPr lang="en-US" sz="8393" u="none" strike="noStrike" spc="-167">
                <a:solidFill>
                  <a:srgbClr val="E0E6F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eployment Flow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61180" y="2140271"/>
            <a:ext cx="10681175" cy="7906031"/>
            <a:chOff x="0" y="0"/>
            <a:chExt cx="2813149" cy="20822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13149" cy="2082247"/>
            </a:xfrm>
            <a:custGeom>
              <a:avLst/>
              <a:gdLst/>
              <a:ahLst/>
              <a:cxnLst/>
              <a:rect l="l" t="t" r="r" b="b"/>
              <a:pathLst>
                <a:path w="2813149" h="2082247">
                  <a:moveTo>
                    <a:pt x="28993" y="0"/>
                  </a:moveTo>
                  <a:lnTo>
                    <a:pt x="2784156" y="0"/>
                  </a:lnTo>
                  <a:cubicBezTo>
                    <a:pt x="2800168" y="0"/>
                    <a:pt x="2813149" y="12981"/>
                    <a:pt x="2813149" y="28993"/>
                  </a:cubicBezTo>
                  <a:lnTo>
                    <a:pt x="2813149" y="2053254"/>
                  </a:lnTo>
                  <a:cubicBezTo>
                    <a:pt x="2813149" y="2060944"/>
                    <a:pt x="2810094" y="2068318"/>
                    <a:pt x="2804657" y="2073755"/>
                  </a:cubicBezTo>
                  <a:cubicBezTo>
                    <a:pt x="2799220" y="2079192"/>
                    <a:pt x="2791845" y="2082247"/>
                    <a:pt x="2784156" y="2082247"/>
                  </a:cubicBezTo>
                  <a:lnTo>
                    <a:pt x="28993" y="2082247"/>
                  </a:lnTo>
                  <a:cubicBezTo>
                    <a:pt x="21303" y="2082247"/>
                    <a:pt x="13929" y="2079192"/>
                    <a:pt x="8492" y="2073755"/>
                  </a:cubicBezTo>
                  <a:cubicBezTo>
                    <a:pt x="3055" y="2068318"/>
                    <a:pt x="0" y="2060944"/>
                    <a:pt x="0" y="2053254"/>
                  </a:cubicBezTo>
                  <a:lnTo>
                    <a:pt x="0" y="28993"/>
                  </a:lnTo>
                  <a:cubicBezTo>
                    <a:pt x="0" y="21303"/>
                    <a:pt x="3055" y="13929"/>
                    <a:pt x="8492" y="8492"/>
                  </a:cubicBezTo>
                  <a:cubicBezTo>
                    <a:pt x="13929" y="3055"/>
                    <a:pt x="21303" y="0"/>
                    <a:pt x="28993" y="0"/>
                  </a:cubicBezTo>
                  <a:close/>
                </a:path>
              </a:pathLst>
            </a:custGeom>
            <a:solidFill>
              <a:srgbClr val="52627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813149" cy="2110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61180" y="2447924"/>
            <a:ext cx="10433664" cy="783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2" lvl="1" indent="-323846" algn="l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Developer → pushes code to GitHub</a:t>
            </a:r>
          </a:p>
          <a:p>
            <a:pPr marL="647692" lvl="1" indent="-323846" algn="l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Jenkins CI/CD → builds Docker image using </a:t>
            </a:r>
            <a:r>
              <a:rPr lang="en-US" sz="2999" b="1" dirty="0" err="1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Dockerfile</a:t>
            </a:r>
            <a:endParaRPr lang="en-US" sz="2999" b="1" dirty="0">
              <a:solidFill>
                <a:srgbClr val="E0E6F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  <a:p>
            <a:pPr marL="647692" lvl="1" indent="-323846" algn="l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Terraform → provisions AWS infrastructure (EC2, EKS, networking)</a:t>
            </a:r>
          </a:p>
          <a:p>
            <a:pPr marL="647692" lvl="1" indent="-323846" algn="l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Image Pushed → to AWS ECR / </a:t>
            </a:r>
            <a:r>
              <a:rPr lang="en-US" sz="2999" b="1" dirty="0" err="1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DockerHub</a:t>
            </a:r>
            <a:endParaRPr lang="en-US" sz="2999" b="1" dirty="0">
              <a:solidFill>
                <a:srgbClr val="E0E6F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  <a:p>
            <a:pPr marL="647692" lvl="1" indent="-323846" algn="l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Kubernetes (EKS) → pulls image &amp; runs container</a:t>
            </a:r>
          </a:p>
          <a:p>
            <a:pPr marL="647692" lvl="1" indent="-323846" algn="l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Service + </a:t>
            </a:r>
            <a:r>
              <a:rPr lang="en-US" sz="2999" b="1" dirty="0" err="1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LoadBalancer</a:t>
            </a: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→ exposes Bookstore App to users</a:t>
            </a:r>
          </a:p>
          <a:p>
            <a:pPr marL="647692" lvl="1" indent="-323846" algn="l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MongoDB Pod/Service → stores users, login, cart, articles</a:t>
            </a:r>
          </a:p>
          <a:p>
            <a:pPr marL="647692" lvl="1" indent="-323846" algn="l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Prometheus → collects metrics (CPU, memory, pods, requests/sec)</a:t>
            </a:r>
          </a:p>
          <a:p>
            <a:pPr marL="647692" lvl="1" indent="-323846" algn="l">
              <a:lnSpc>
                <a:spcPts val="4199"/>
              </a:lnSpc>
              <a:buFont typeface="Arial"/>
              <a:buChar char="•"/>
            </a:pPr>
            <a:r>
              <a:rPr lang="en-US" sz="2999" b="1" dirty="0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Grafana → visualizes metrics &amp; builds dashboards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endParaRPr lang="en-US" sz="2999" b="1" dirty="0">
              <a:solidFill>
                <a:srgbClr val="E0E6F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2270065" y="1232919"/>
            <a:ext cx="5540472" cy="7474979"/>
            <a:chOff x="0" y="0"/>
            <a:chExt cx="812800" cy="10965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1096597"/>
            </a:xfrm>
            <a:custGeom>
              <a:avLst/>
              <a:gdLst/>
              <a:ahLst/>
              <a:cxnLst/>
              <a:rect l="l" t="t" r="r" b="b"/>
              <a:pathLst>
                <a:path w="812800" h="1096597">
                  <a:moveTo>
                    <a:pt x="34933" y="0"/>
                  </a:moveTo>
                  <a:lnTo>
                    <a:pt x="777867" y="0"/>
                  </a:lnTo>
                  <a:cubicBezTo>
                    <a:pt x="797160" y="0"/>
                    <a:pt x="812800" y="15640"/>
                    <a:pt x="812800" y="34933"/>
                  </a:cubicBezTo>
                  <a:lnTo>
                    <a:pt x="812800" y="1061663"/>
                  </a:lnTo>
                  <a:cubicBezTo>
                    <a:pt x="812800" y="1070928"/>
                    <a:pt x="809120" y="1079814"/>
                    <a:pt x="802568" y="1086365"/>
                  </a:cubicBezTo>
                  <a:cubicBezTo>
                    <a:pt x="796017" y="1092916"/>
                    <a:pt x="787131" y="1096597"/>
                    <a:pt x="777867" y="1096597"/>
                  </a:cubicBezTo>
                  <a:lnTo>
                    <a:pt x="34933" y="1096597"/>
                  </a:lnTo>
                  <a:cubicBezTo>
                    <a:pt x="15640" y="1096597"/>
                    <a:pt x="0" y="1080956"/>
                    <a:pt x="0" y="1061663"/>
                  </a:cubicBezTo>
                  <a:lnTo>
                    <a:pt x="0" y="34933"/>
                  </a:lnTo>
                  <a:cubicBezTo>
                    <a:pt x="0" y="15640"/>
                    <a:pt x="15640" y="0"/>
                    <a:pt x="34933" y="0"/>
                  </a:cubicBezTo>
                  <a:close/>
                </a:path>
              </a:pathLst>
            </a:custGeom>
            <a:blipFill>
              <a:blip r:embed="rId2"/>
              <a:stretch>
                <a:fillRect l="-1605" r="-160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47794" y="0"/>
            <a:ext cx="14140206" cy="10287000"/>
          </a:xfrm>
          <a:custGeom>
            <a:avLst/>
            <a:gdLst/>
            <a:ahLst/>
            <a:cxnLst/>
            <a:rect l="l" t="t" r="r" b="b"/>
            <a:pathLst>
              <a:path w="14140206" h="10287000">
                <a:moveTo>
                  <a:pt x="0" y="0"/>
                </a:moveTo>
                <a:lnTo>
                  <a:pt x="14140206" y="0"/>
                </a:lnTo>
                <a:lnTo>
                  <a:pt x="14140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411013" y="1200150"/>
            <a:ext cx="9591498" cy="2364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5"/>
              </a:lnSpc>
            </a:pPr>
            <a:r>
              <a:rPr lang="en-US" sz="9075" spc="-181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Infrastructure</a:t>
            </a:r>
          </a:p>
          <a:p>
            <a:pPr marL="0" lvl="0" indent="0" algn="l">
              <a:lnSpc>
                <a:spcPts val="9075"/>
              </a:lnSpc>
              <a:spcBef>
                <a:spcPct val="0"/>
              </a:spcBef>
            </a:pPr>
            <a:endParaRPr lang="en-US" sz="9075" spc="-181">
              <a:solidFill>
                <a:srgbClr val="000000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627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13803" r="-1380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8701519" y="1694473"/>
            <a:ext cx="9591498" cy="1187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75"/>
              </a:lnSpc>
              <a:spcBef>
                <a:spcPct val="0"/>
              </a:spcBef>
            </a:pPr>
            <a:r>
              <a:rPr lang="en-US" sz="8875" spc="-177">
                <a:solidFill>
                  <a:srgbClr val="E0E6F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</a:t>
            </a:r>
            <a:r>
              <a:rPr lang="en-US" sz="8875" u="none" strike="noStrike" spc="-177">
                <a:solidFill>
                  <a:srgbClr val="E0E6F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erraform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701519" y="3215302"/>
            <a:ext cx="9234716" cy="2970381"/>
            <a:chOff x="0" y="0"/>
            <a:chExt cx="12312955" cy="396050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85725"/>
              <a:ext cx="12312955" cy="814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69"/>
                </a:lnSpc>
                <a:spcBef>
                  <a:spcPct val="0"/>
                </a:spcBef>
              </a:pPr>
              <a:r>
                <a:rPr lang="en-US" sz="4469" spc="-89">
                  <a:solidFill>
                    <a:srgbClr val="E0E6F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Infra</a:t>
              </a:r>
              <a:r>
                <a:rPr lang="en-US" sz="4469" u="none" strike="noStrike" spc="-89">
                  <a:solidFill>
                    <a:srgbClr val="E0E6F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structure as Code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21821"/>
              <a:ext cx="12312955" cy="3038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-55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                   Terraform</a:t>
              </a:r>
              <a:r>
                <a:rPr lang="en-US" sz="2799" u="none" strike="noStrike" spc="-55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is an open-source Infrastructure as Code (IaC) tool developed by HashiCorp. It allows you to define, provision, and manage cloud infrastructure using simple, declarative configuration files written in HCL (HashiCorp Configuration Language).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01519" y="6522234"/>
            <a:ext cx="9234716" cy="2970381"/>
            <a:chOff x="0" y="0"/>
            <a:chExt cx="12312955" cy="3960508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12312955" cy="814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69"/>
                </a:lnSpc>
                <a:spcBef>
                  <a:spcPct val="0"/>
                </a:spcBef>
              </a:pPr>
              <a:r>
                <a:rPr lang="en-US" sz="4469" spc="-89">
                  <a:solidFill>
                    <a:srgbClr val="E0E6F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Cloud Infra</a:t>
              </a:r>
              <a:r>
                <a:rPr lang="en-US" sz="4469" u="none" strike="noStrike" spc="-89">
                  <a:solidFill>
                    <a:srgbClr val="E0E6F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structure (AWS)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21821"/>
              <a:ext cx="12312955" cy="30386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8" lvl="1" indent="-302259" algn="l">
                <a:lnSpc>
                  <a:spcPts val="3639"/>
                </a:lnSpc>
                <a:buFont typeface="Arial"/>
                <a:buChar char="•"/>
              </a:pPr>
              <a:r>
                <a:rPr lang="en-US" sz="2799" b="1" spc="-55">
                  <a:solidFill>
                    <a:srgbClr val="E0E6F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Amazon</a:t>
              </a:r>
              <a:r>
                <a:rPr lang="en-US" sz="2799" b="1" u="none" strike="noStrike" spc="-55">
                  <a:solidFill>
                    <a:srgbClr val="E0E6F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 ECR (Elastic Container Registry):</a:t>
              </a:r>
              <a:r>
                <a:rPr lang="en-US" sz="2799" u="none" strike="noStrike" spc="-55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Stores Docker images built by Jenkins.</a:t>
              </a:r>
            </a:p>
            <a:p>
              <a:pPr marL="604518" lvl="1" indent="-302259" algn="l">
                <a:lnSpc>
                  <a:spcPts val="3639"/>
                </a:lnSpc>
                <a:buFont typeface="Arial"/>
                <a:buChar char="•"/>
              </a:pPr>
              <a:r>
                <a:rPr lang="en-US" sz="2799" b="1" u="none" strike="noStrike" spc="-55">
                  <a:solidFill>
                    <a:srgbClr val="E0E6F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Amazon EKS (Elastic Kubernetes Service): </a:t>
              </a:r>
              <a:r>
                <a:rPr lang="en-US" sz="2799" u="none" strike="noStrike" spc="-55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Manages Kubernetes clusters for container orchestration.</a:t>
              </a:r>
            </a:p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endParaRPr lang="en-US" sz="2799" u="none" strike="noStrike" spc="-55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34450" y="666750"/>
            <a:ext cx="8324850" cy="9294495"/>
            <a:chOff x="0" y="0"/>
            <a:chExt cx="11099800" cy="12392660"/>
          </a:xfrm>
        </p:grpSpPr>
        <p:sp>
          <p:nvSpPr>
            <p:cNvPr id="3" name="TextBox 3"/>
            <p:cNvSpPr txBox="1"/>
            <p:nvPr/>
          </p:nvSpPr>
          <p:spPr>
            <a:xfrm>
              <a:off x="0" y="3543300"/>
              <a:ext cx="11099800" cy="88493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Jenk</a:t>
              </a: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ins is an open-source automation server that plays a central role in the CI/CD (Continuous Integration/Continuous Delivery) process.</a:t>
              </a:r>
            </a:p>
            <a:p>
              <a:pPr marL="0" lvl="0" indent="0" algn="l">
                <a:lnSpc>
                  <a:spcPts val="3120"/>
                </a:lnSpc>
              </a:pPr>
              <a:endParaRPr lang="en-US" sz="2400" u="none" strike="noStrike" spc="-48">
                <a:solidFill>
                  <a:srgbClr val="CFD8E9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  <a:p>
              <a:pPr marL="518160" lvl="1" indent="-259080" algn="l">
                <a:lnSpc>
                  <a:spcPts val="3120"/>
                </a:lnSpc>
                <a:buAutoNum type="arabicPeriod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Continuous Integration (CI)</a:t>
              </a:r>
            </a:p>
            <a:p>
              <a:pPr marL="1036320" lvl="2" indent="-345440" algn="l">
                <a:lnSpc>
                  <a:spcPts val="3120"/>
                </a:lnSpc>
                <a:buAutoNum type="alphaLcPeriod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Automatically builds and tests code whenever a developer pushes changes to GitHub.</a:t>
              </a:r>
            </a:p>
            <a:p>
              <a:pPr marL="1036320" lvl="2" indent="-345440" algn="l">
                <a:lnSpc>
                  <a:spcPts val="3120"/>
                </a:lnSpc>
                <a:buAutoNum type="alphaLcPeriod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Ensures code quality and prevents integration issues early.</a:t>
              </a:r>
            </a:p>
            <a:p>
              <a:pPr marL="518160" lvl="1" indent="-259080" algn="l">
                <a:lnSpc>
                  <a:spcPts val="3120"/>
                </a:lnSpc>
                <a:buAutoNum type="arabicPeriod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Continuous Delivery (CD)</a:t>
              </a:r>
            </a:p>
            <a:p>
              <a:pPr marL="1036320" lvl="2" indent="-345440" algn="l">
                <a:lnSpc>
                  <a:spcPts val="3120"/>
                </a:lnSpc>
                <a:buAutoNum type="alphaLcPeriod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Packages the application into a Docker image using a Dockerfile.</a:t>
              </a:r>
            </a:p>
            <a:p>
              <a:pPr marL="1036320" lvl="2" indent="-345440" algn="l">
                <a:lnSpc>
                  <a:spcPts val="3120"/>
                </a:lnSpc>
                <a:buAutoNum type="alphaLcPeriod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Pushes the image to a container registry like DockerHub or AWS ECR.</a:t>
              </a:r>
            </a:p>
            <a:p>
              <a:pPr marL="1036320" lvl="2" indent="-345440" algn="l">
                <a:lnSpc>
                  <a:spcPts val="3120"/>
                </a:lnSpc>
                <a:buAutoNum type="alphaLcPeriod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Triggers deployment to Kubernetes (EKS) using configuration files.</a:t>
              </a:r>
            </a:p>
            <a:p>
              <a:pPr marL="0" lvl="0" indent="0" algn="l">
                <a:lnSpc>
                  <a:spcPts val="3120"/>
                </a:lnSpc>
              </a:pPr>
              <a:endParaRPr lang="en-US" sz="2400" u="none" strike="noStrike" spc="-48">
                <a:solidFill>
                  <a:srgbClr val="CFD8E9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099800" cy="33506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>
                  <a:solidFill>
                    <a:srgbClr val="E0E6F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Jenkins in the </a:t>
              </a:r>
              <a:r>
                <a:rPr lang="en-US" sz="9500" u="none" strike="noStrike" spc="-190">
                  <a:solidFill>
                    <a:srgbClr val="E0E6F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CI/CD Pipeline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627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59860" y="2457187"/>
            <a:ext cx="13368280" cy="6801113"/>
          </a:xfrm>
          <a:custGeom>
            <a:avLst/>
            <a:gdLst/>
            <a:ahLst/>
            <a:cxnLst/>
            <a:rect l="l" t="t" r="r" b="b"/>
            <a:pathLst>
              <a:path w="13368280" h="6801113">
                <a:moveTo>
                  <a:pt x="0" y="0"/>
                </a:moveTo>
                <a:lnTo>
                  <a:pt x="13368280" y="0"/>
                </a:lnTo>
                <a:lnTo>
                  <a:pt x="13368280" y="6801113"/>
                </a:lnTo>
                <a:lnTo>
                  <a:pt x="0" y="6801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858196"/>
            <a:ext cx="9591498" cy="1211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75"/>
              </a:lnSpc>
              <a:spcBef>
                <a:spcPct val="0"/>
              </a:spcBef>
            </a:pPr>
            <a:r>
              <a:rPr lang="en-US" sz="9075" spc="-181">
                <a:solidFill>
                  <a:srgbClr val="E0E6F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Jenkins Pipeline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49253" y="2923638"/>
            <a:ext cx="9484267" cy="1903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5"/>
              </a:lnSpc>
              <a:spcBef>
                <a:spcPct val="0"/>
              </a:spcBef>
            </a:pPr>
            <a:r>
              <a:rPr lang="en-US" sz="2334" b="1" u="none" strike="noStrike" spc="-46">
                <a:solidFill>
                  <a:srgbClr val="CFD8E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Docker</a:t>
            </a:r>
          </a:p>
          <a:p>
            <a:pPr marL="504126" lvl="1" indent="-252063" algn="l">
              <a:lnSpc>
                <a:spcPts val="3035"/>
              </a:lnSpc>
              <a:spcBef>
                <a:spcPct val="0"/>
              </a:spcBef>
              <a:buFont typeface="Arial"/>
              <a:buChar char="•"/>
            </a:pPr>
            <a:r>
              <a:rPr lang="en-US" sz="2334" u="none" strike="noStrike" spc="-46">
                <a:solidFill>
                  <a:srgbClr val="CFD8E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 platform to build, run, and manage containers.</a:t>
            </a:r>
          </a:p>
          <a:p>
            <a:pPr marL="504126" lvl="1" indent="-252063" algn="l">
              <a:lnSpc>
                <a:spcPts val="3035"/>
              </a:lnSpc>
              <a:spcBef>
                <a:spcPct val="0"/>
              </a:spcBef>
              <a:buFont typeface="Arial"/>
              <a:buChar char="•"/>
            </a:pPr>
            <a:r>
              <a:rPr lang="en-US" sz="2334" u="none" strike="noStrike" spc="-46">
                <a:solidFill>
                  <a:srgbClr val="CFD8E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Uses a Dockerfile to define how the container is built (e.g., Node.js app + MongoDB).</a:t>
            </a:r>
          </a:p>
          <a:p>
            <a:pPr marL="0" lvl="0" indent="0" algn="l">
              <a:lnSpc>
                <a:spcPts val="3035"/>
              </a:lnSpc>
              <a:spcBef>
                <a:spcPct val="0"/>
              </a:spcBef>
            </a:pPr>
            <a:endParaRPr lang="en-US" sz="2334" u="none" strike="noStrike" spc="-46">
              <a:solidFill>
                <a:srgbClr val="CFD8E9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549253" y="395226"/>
            <a:ext cx="9484267" cy="1153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68"/>
              </a:lnSpc>
              <a:spcBef>
                <a:spcPct val="0"/>
              </a:spcBef>
            </a:pPr>
            <a:r>
              <a:rPr lang="en-US" sz="8668" u="none" strike="noStrike" spc="-173">
                <a:solidFill>
                  <a:srgbClr val="E0E6F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Containerization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49253" y="1564738"/>
            <a:ext cx="9484267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9"/>
              </a:lnSpc>
              <a:spcBef>
                <a:spcPct val="0"/>
              </a:spcBef>
            </a:pPr>
            <a:r>
              <a:rPr lang="en-US" sz="2499" spc="-49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Containerization all</a:t>
            </a:r>
            <a:r>
              <a:rPr lang="en-US" sz="2499" u="none" strike="noStrike" spc="-49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ows applications to run consistently across different environments by packaging code, dependencies, and configurations into lightweight containers.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627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5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8549253" y="7293420"/>
            <a:ext cx="9484267" cy="281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5"/>
              </a:lnSpc>
              <a:spcBef>
                <a:spcPct val="0"/>
              </a:spcBef>
            </a:pPr>
            <a:r>
              <a:rPr lang="en-US" sz="2135" b="1" u="none" strike="noStrike" spc="-42">
                <a:solidFill>
                  <a:srgbClr val="CFD8E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Deployments</a:t>
            </a:r>
          </a:p>
          <a:p>
            <a:pPr marL="460947" lvl="1" indent="-230474" algn="l">
              <a:lnSpc>
                <a:spcPts val="2775"/>
              </a:lnSpc>
              <a:spcBef>
                <a:spcPct val="0"/>
              </a:spcBef>
              <a:buFont typeface="Arial"/>
              <a:buChar char="•"/>
            </a:pPr>
            <a:r>
              <a:rPr lang="en-US" sz="2135" u="none" strike="noStrike" spc="-42">
                <a:solidFill>
                  <a:srgbClr val="CFD8E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Define how many replicas (pods) of your app should run.</a:t>
            </a:r>
          </a:p>
          <a:p>
            <a:pPr marL="460947" lvl="1" indent="-230474" algn="l">
              <a:lnSpc>
                <a:spcPts val="2775"/>
              </a:lnSpc>
              <a:spcBef>
                <a:spcPct val="0"/>
              </a:spcBef>
              <a:buFont typeface="Arial"/>
              <a:buChar char="•"/>
            </a:pPr>
            <a:r>
              <a:rPr lang="en-US" sz="2135" u="none" strike="noStrike" spc="-42">
                <a:solidFill>
                  <a:srgbClr val="CFD8E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Automatically restarts failed containers and handles rolling updates.</a:t>
            </a:r>
          </a:p>
          <a:p>
            <a:pPr marL="0" lvl="0" indent="0" algn="l">
              <a:lnSpc>
                <a:spcPts val="2775"/>
              </a:lnSpc>
              <a:spcBef>
                <a:spcPct val="0"/>
              </a:spcBef>
            </a:pPr>
            <a:r>
              <a:rPr lang="en-US" sz="2135" b="1" u="none" strike="noStrike" spc="-42">
                <a:solidFill>
                  <a:srgbClr val="CFD8E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Configuration via YAML</a:t>
            </a:r>
          </a:p>
          <a:p>
            <a:pPr marL="460947" lvl="1" indent="-230474" algn="l">
              <a:lnSpc>
                <a:spcPts val="2775"/>
              </a:lnSpc>
              <a:spcBef>
                <a:spcPct val="0"/>
              </a:spcBef>
              <a:buFont typeface="Arial"/>
              <a:buChar char="•"/>
            </a:pPr>
            <a:r>
              <a:rPr lang="en-US" sz="2135" u="none" strike="noStrike" spc="-42">
                <a:solidFill>
                  <a:srgbClr val="CFD8E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Kubernetes resources (pods, services, deployments) are defined using .yaml files.</a:t>
            </a:r>
          </a:p>
          <a:p>
            <a:pPr marL="460947" lvl="1" indent="-230474" algn="l">
              <a:lnSpc>
                <a:spcPts val="2775"/>
              </a:lnSpc>
              <a:spcBef>
                <a:spcPct val="0"/>
              </a:spcBef>
              <a:buFont typeface="Arial"/>
              <a:buChar char="•"/>
            </a:pPr>
            <a:r>
              <a:rPr lang="en-US" sz="2135" u="none" strike="noStrike" spc="-42">
                <a:solidFill>
                  <a:srgbClr val="CFD8E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YAML allows declarative configuration—easy to version control and automate.</a:t>
            </a:r>
          </a:p>
          <a:p>
            <a:pPr marL="0" lvl="0" indent="0" algn="l">
              <a:lnSpc>
                <a:spcPts val="2775"/>
              </a:lnSpc>
              <a:spcBef>
                <a:spcPct val="0"/>
              </a:spcBef>
            </a:pPr>
            <a:endParaRPr lang="en-US" sz="2135" u="none" strike="noStrike" spc="-42">
              <a:solidFill>
                <a:srgbClr val="CFD8E9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549253" y="4913284"/>
            <a:ext cx="9484267" cy="1319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69"/>
              </a:lnSpc>
              <a:spcBef>
                <a:spcPct val="0"/>
              </a:spcBef>
            </a:pPr>
            <a:r>
              <a:rPr lang="en-US" sz="5069" u="none" strike="noStrike" spc="-101">
                <a:solidFill>
                  <a:srgbClr val="E0E6F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Container Orchestration: Kubernetes (K8s)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49253" y="6366015"/>
            <a:ext cx="9484267" cy="81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9"/>
              </a:lnSpc>
              <a:spcBef>
                <a:spcPct val="0"/>
              </a:spcBef>
            </a:pPr>
            <a:r>
              <a:rPr lang="en-US" sz="2499" spc="-49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Kuberne</a:t>
            </a:r>
            <a:r>
              <a:rPr lang="en-US" sz="2499" u="none" strike="noStrike" spc="-49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tes automates deployment, scaling, and management of containerized applications.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13464" y="2288329"/>
            <a:ext cx="13461071" cy="7302631"/>
          </a:xfrm>
          <a:custGeom>
            <a:avLst/>
            <a:gdLst/>
            <a:ahLst/>
            <a:cxnLst/>
            <a:rect l="l" t="t" r="r" b="b"/>
            <a:pathLst>
              <a:path w="13461071" h="7302631">
                <a:moveTo>
                  <a:pt x="0" y="0"/>
                </a:moveTo>
                <a:lnTo>
                  <a:pt x="13461072" y="0"/>
                </a:lnTo>
                <a:lnTo>
                  <a:pt x="13461072" y="7302631"/>
                </a:lnTo>
                <a:lnTo>
                  <a:pt x="0" y="7302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858196"/>
            <a:ext cx="9591498" cy="1211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75"/>
              </a:lnSpc>
              <a:spcBef>
                <a:spcPct val="0"/>
              </a:spcBef>
            </a:pPr>
            <a:r>
              <a:rPr lang="en-US" sz="9075" spc="-181">
                <a:solidFill>
                  <a:srgbClr val="E0E6F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EKS cluster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51968" y="515936"/>
            <a:ext cx="9591498" cy="1187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75"/>
              </a:lnSpc>
              <a:spcBef>
                <a:spcPct val="0"/>
              </a:spcBef>
            </a:pPr>
            <a:r>
              <a:rPr lang="en-US" sz="8875" u="none" strike="noStrike" spc="-177">
                <a:solidFill>
                  <a:srgbClr val="E0E6F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DevOps Monitoring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627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8505583" y="2294263"/>
            <a:ext cx="9484267" cy="3454886"/>
            <a:chOff x="0" y="0"/>
            <a:chExt cx="12645690" cy="4606514"/>
          </a:xfrm>
        </p:grpSpPr>
        <p:sp>
          <p:nvSpPr>
            <p:cNvPr id="10" name="TextBox 10"/>
            <p:cNvSpPr txBox="1"/>
            <p:nvPr/>
          </p:nvSpPr>
          <p:spPr>
            <a:xfrm>
              <a:off x="0" y="85725"/>
              <a:ext cx="12645690" cy="814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69"/>
                </a:lnSpc>
                <a:spcBef>
                  <a:spcPct val="0"/>
                </a:spcBef>
              </a:pPr>
              <a:r>
                <a:rPr lang="en-US" sz="4469" spc="-89">
                  <a:solidFill>
                    <a:srgbClr val="E0E6F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Pr</a:t>
              </a:r>
              <a:r>
                <a:rPr lang="en-US" sz="4469" u="none" strike="noStrike" spc="-89">
                  <a:solidFill>
                    <a:srgbClr val="E0E6F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ometheus: Metrics Collection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31346"/>
              <a:ext cx="12645690" cy="3675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2" lvl="1" indent="-226696" algn="l">
                <a:lnSpc>
                  <a:spcPts val="273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spc="-42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Prome</a:t>
              </a:r>
              <a:r>
                <a:rPr lang="en-US" sz="2100" u="none" strike="noStrike" spc="-42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theus is an open-source monitoring tool designed for time-series data.</a:t>
              </a:r>
            </a:p>
            <a:p>
              <a:pPr marL="453392" lvl="1" indent="-226696" algn="l">
                <a:lnSpc>
                  <a:spcPts val="273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u="none" strike="noStrike" spc="-42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Stores data in its own TSDB (Time Series Database).</a:t>
              </a:r>
            </a:p>
            <a:p>
              <a:pPr marL="453392" lvl="1" indent="-226696" algn="l">
                <a:lnSpc>
                  <a:spcPts val="273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u="none" strike="noStrike" spc="-42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Ideal for tracking:</a:t>
              </a:r>
            </a:p>
            <a:p>
              <a:pPr marL="906783" lvl="2" indent="-302261" algn="l">
                <a:lnSpc>
                  <a:spcPts val="273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100" u="none" strike="noStrike" spc="-42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CPU &amp; memory usage</a:t>
              </a:r>
            </a:p>
            <a:p>
              <a:pPr marL="906783" lvl="2" indent="-302261" algn="l">
                <a:lnSpc>
                  <a:spcPts val="273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100" u="none" strike="noStrike" spc="-42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Pod health</a:t>
              </a:r>
            </a:p>
            <a:p>
              <a:pPr marL="906783" lvl="2" indent="-302261" algn="l">
                <a:lnSpc>
                  <a:spcPts val="273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100" u="none" strike="noStrike" spc="-42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Request rates</a:t>
              </a:r>
            </a:p>
            <a:p>
              <a:pPr marL="906783" lvl="2" indent="-302261" algn="l">
                <a:lnSpc>
                  <a:spcPts val="273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100" u="none" strike="noStrike" spc="-42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Container uptime</a:t>
              </a:r>
            </a:p>
            <a:p>
              <a:pPr marL="0" lvl="0" indent="0" algn="l">
                <a:lnSpc>
                  <a:spcPts val="2860"/>
                </a:lnSpc>
                <a:spcBef>
                  <a:spcPct val="0"/>
                </a:spcBef>
              </a:pPr>
              <a:endParaRPr lang="en-US" sz="2100" u="none" strike="noStrike" spc="-42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59199" y="5972675"/>
            <a:ext cx="9484267" cy="3797786"/>
            <a:chOff x="0" y="0"/>
            <a:chExt cx="12645690" cy="506371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85725"/>
              <a:ext cx="12645690" cy="8149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69"/>
                </a:lnSpc>
                <a:spcBef>
                  <a:spcPct val="0"/>
                </a:spcBef>
              </a:pPr>
              <a:r>
                <a:rPr lang="en-US" sz="4469" spc="-89">
                  <a:solidFill>
                    <a:srgbClr val="E0E6F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Grafana</a:t>
              </a:r>
              <a:r>
                <a:rPr lang="en-US" sz="4469" u="none" strike="noStrike" spc="-89">
                  <a:solidFill>
                    <a:srgbClr val="E0E6F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: Visualization &amp; Dashboards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31346"/>
              <a:ext cx="12645690" cy="4132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2" lvl="1" indent="-226696" algn="l">
                <a:lnSpc>
                  <a:spcPts val="273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spc="-42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Grafana</a:t>
              </a:r>
              <a:r>
                <a:rPr lang="en-US" sz="2100" u="none" strike="noStrike" spc="-42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is an open-source analytics and visualization platform.</a:t>
              </a:r>
            </a:p>
            <a:p>
              <a:pPr marL="453392" lvl="1" indent="-226696" algn="l">
                <a:lnSpc>
                  <a:spcPts val="273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u="none" strike="noStrike" spc="-42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It connects to Prometheus (and other data sources) to display metrics in real-time dashboards.</a:t>
              </a:r>
            </a:p>
            <a:p>
              <a:pPr marL="453392" lvl="1" indent="-226696" algn="l">
                <a:lnSpc>
                  <a:spcPts val="273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u="none" strike="noStrike" spc="-42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Helps DevOps teams:</a:t>
              </a:r>
            </a:p>
            <a:p>
              <a:pPr marL="906783" lvl="2" indent="-302261" algn="l">
                <a:lnSpc>
                  <a:spcPts val="273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100" u="none" strike="noStrike" spc="-42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Monitor system health</a:t>
              </a:r>
            </a:p>
            <a:p>
              <a:pPr marL="906783" lvl="2" indent="-302261" algn="l">
                <a:lnSpc>
                  <a:spcPts val="273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100" u="none" strike="noStrike" spc="-42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Detect anomalies</a:t>
              </a:r>
            </a:p>
            <a:p>
              <a:pPr marL="906783" lvl="2" indent="-302261" algn="l">
                <a:lnSpc>
                  <a:spcPts val="273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100" u="none" strike="noStrike" spc="-42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Set up alerts</a:t>
              </a:r>
            </a:p>
            <a:p>
              <a:pPr marL="906783" lvl="2" indent="-302261" algn="l">
                <a:lnSpc>
                  <a:spcPts val="273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100" u="none" strike="noStrike" spc="-42">
                  <a:solidFill>
                    <a:srgbClr val="E0E6F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Share insights with stakeholders</a:t>
              </a:r>
            </a:p>
            <a:p>
              <a:pPr marL="0" lvl="0" indent="0" algn="l">
                <a:lnSpc>
                  <a:spcPts val="2860"/>
                </a:lnSpc>
                <a:spcBef>
                  <a:spcPct val="0"/>
                </a:spcBef>
              </a:pPr>
              <a:endParaRPr lang="en-US" sz="2100" u="none" strike="noStrike" spc="-42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58196"/>
            <a:ext cx="9591498" cy="1211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75"/>
              </a:lnSpc>
              <a:spcBef>
                <a:spcPct val="0"/>
              </a:spcBef>
            </a:pPr>
            <a:r>
              <a:rPr lang="en-US" sz="9075" spc="-181">
                <a:solidFill>
                  <a:srgbClr val="E0E6F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Grafana dashboard</a:t>
            </a:r>
          </a:p>
        </p:txBody>
      </p:sp>
      <p:sp>
        <p:nvSpPr>
          <p:cNvPr id="3" name="Freeform 3"/>
          <p:cNvSpPr/>
          <p:nvPr/>
        </p:nvSpPr>
        <p:spPr>
          <a:xfrm>
            <a:off x="2730057" y="2651939"/>
            <a:ext cx="12827885" cy="6606361"/>
          </a:xfrm>
          <a:custGeom>
            <a:avLst/>
            <a:gdLst/>
            <a:ahLst/>
            <a:cxnLst/>
            <a:rect l="l" t="t" r="r" b="b"/>
            <a:pathLst>
              <a:path w="12827885" h="6606361">
                <a:moveTo>
                  <a:pt x="0" y="0"/>
                </a:moveTo>
                <a:lnTo>
                  <a:pt x="12827886" y="0"/>
                </a:lnTo>
                <a:lnTo>
                  <a:pt x="12827886" y="6606361"/>
                </a:lnTo>
                <a:lnTo>
                  <a:pt x="0" y="6606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25334" y="317678"/>
            <a:ext cx="9433966" cy="9392298"/>
            <a:chOff x="0" y="0"/>
            <a:chExt cx="12578622" cy="12523064"/>
          </a:xfrm>
        </p:grpSpPr>
        <p:sp>
          <p:nvSpPr>
            <p:cNvPr id="3" name="TextBox 3"/>
            <p:cNvSpPr txBox="1"/>
            <p:nvPr/>
          </p:nvSpPr>
          <p:spPr>
            <a:xfrm>
              <a:off x="0" y="3673704"/>
              <a:ext cx="12578622" cy="88493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31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Fa</a:t>
              </a: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ster Incident Resolution</a:t>
              </a:r>
            </a:p>
            <a:p>
              <a:pPr marL="1036320" lvl="2" indent="-345440" algn="l">
                <a:lnSpc>
                  <a:spcPts val="312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Real-time monitoring with Prometheus &amp; Grafana</a:t>
              </a:r>
            </a:p>
            <a:p>
              <a:pPr marL="1036320" lvl="2" indent="-345440" algn="l">
                <a:lnSpc>
                  <a:spcPts val="312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Integrated alerting and issue tracking via ServiceNow</a:t>
              </a:r>
            </a:p>
            <a:p>
              <a:pPr marL="518160" lvl="1" indent="-259080" algn="l">
                <a:lnSpc>
                  <a:spcPts val="31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Automation = No Manual Delays</a:t>
              </a:r>
            </a:p>
            <a:p>
              <a:pPr marL="1036320" lvl="2" indent="-345440" algn="l">
                <a:lnSpc>
                  <a:spcPts val="312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CI/CD with Jenkins automates build, test, and deployment</a:t>
              </a:r>
            </a:p>
            <a:p>
              <a:pPr marL="1036320" lvl="2" indent="-345440" algn="l">
                <a:lnSpc>
                  <a:spcPts val="312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Auto-assignment of issues and tasks reduces human error</a:t>
              </a:r>
            </a:p>
            <a:p>
              <a:pPr marL="518160" lvl="1" indent="-259080" algn="l">
                <a:lnSpc>
                  <a:spcPts val="31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Seamless Team Collaboration</a:t>
              </a:r>
            </a:p>
            <a:p>
              <a:pPr marL="1036320" lvl="2" indent="-345440" algn="l">
                <a:lnSpc>
                  <a:spcPts val="312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DevOps bridges support, inventory, and checkout teams</a:t>
              </a:r>
            </a:p>
            <a:p>
              <a:pPr marL="1036320" lvl="2" indent="-345440" algn="l">
                <a:lnSpc>
                  <a:spcPts val="312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Shared visibility and faster feedback loops</a:t>
              </a:r>
            </a:p>
            <a:p>
              <a:pPr marL="518160" lvl="1" indent="-259080" algn="l">
                <a:lnSpc>
                  <a:spcPts val="31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Complete System Visibility</a:t>
              </a:r>
            </a:p>
            <a:p>
              <a:pPr marL="1036320" lvl="2" indent="-345440" algn="l">
                <a:lnSpc>
                  <a:spcPts val="312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Prometheus collects metrics</a:t>
              </a:r>
            </a:p>
            <a:p>
              <a:pPr marL="1036320" lvl="2" indent="-345440" algn="l">
                <a:lnSpc>
                  <a:spcPts val="312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Grafana visualizes dashboards</a:t>
              </a:r>
            </a:p>
            <a:p>
              <a:pPr marL="518160" lvl="1" indent="-259080" algn="l">
                <a:lnSpc>
                  <a:spcPts val="312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Robust User Experience</a:t>
              </a:r>
            </a:p>
            <a:p>
              <a:pPr marL="1036320" lvl="2" indent="-345440" algn="l">
                <a:lnSpc>
                  <a:spcPts val="312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Secure User Registration/Login with MongoDB</a:t>
              </a:r>
            </a:p>
            <a:p>
              <a:pPr marL="1036320" lvl="2" indent="-345440" algn="l">
                <a:lnSpc>
                  <a:spcPts val="312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Smooth Catalog Browsing, Cart Management, and Checkout</a:t>
              </a:r>
            </a:p>
            <a:p>
              <a:pPr marL="1036320" lvl="2" indent="-345440" algn="l">
                <a:lnSpc>
                  <a:spcPts val="3120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400" u="none" strike="noStrike" spc="-48">
                  <a:solidFill>
                    <a:srgbClr val="CFD8E9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Community Engagement with articles and AI chatbot support</a:t>
              </a:r>
            </a:p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endParaRPr lang="en-US" sz="2400" u="none" strike="noStrike" spc="-48">
                <a:solidFill>
                  <a:srgbClr val="CFD8E9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4300"/>
              <a:ext cx="12578622" cy="23444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600"/>
                </a:lnSpc>
                <a:spcBef>
                  <a:spcPct val="0"/>
                </a:spcBef>
              </a:pPr>
              <a:r>
                <a:rPr lang="en-US" sz="6600" spc="-132">
                  <a:solidFill>
                    <a:srgbClr val="E0E6F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Advantages of the</a:t>
              </a:r>
              <a:r>
                <a:rPr lang="en-US" sz="6600" u="none" strike="noStrike" spc="-132">
                  <a:solidFill>
                    <a:srgbClr val="E0E6F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Application &amp; Tech Stack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7553325" cy="10287000"/>
            <a:chOff x="0" y="0"/>
            <a:chExt cx="1989353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89353" cy="2709333"/>
            </a:xfrm>
            <a:custGeom>
              <a:avLst/>
              <a:gdLst/>
              <a:ahLst/>
              <a:cxnLst/>
              <a:rect l="l" t="t" r="r" b="b"/>
              <a:pathLst>
                <a:path w="1989353" h="2709333">
                  <a:moveTo>
                    <a:pt x="0" y="0"/>
                  </a:moveTo>
                  <a:lnTo>
                    <a:pt x="1989353" y="0"/>
                  </a:lnTo>
                  <a:lnTo>
                    <a:pt x="19893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0E6F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989353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1159880"/>
            <a:ext cx="6228891" cy="8098420"/>
            <a:chOff x="0" y="0"/>
            <a:chExt cx="812800" cy="1056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9716" y="0"/>
                  </a:moveTo>
                  <a:lnTo>
                    <a:pt x="763084" y="0"/>
                  </a:lnTo>
                  <a:cubicBezTo>
                    <a:pt x="776269" y="0"/>
                    <a:pt x="788915" y="5238"/>
                    <a:pt x="798238" y="14562"/>
                  </a:cubicBezTo>
                  <a:cubicBezTo>
                    <a:pt x="807562" y="23885"/>
                    <a:pt x="812800" y="36531"/>
                    <a:pt x="812800" y="49716"/>
                  </a:cubicBezTo>
                  <a:lnTo>
                    <a:pt x="812800" y="1007036"/>
                  </a:lnTo>
                  <a:cubicBezTo>
                    <a:pt x="812800" y="1020222"/>
                    <a:pt x="807562" y="1032867"/>
                    <a:pt x="798238" y="1042191"/>
                  </a:cubicBezTo>
                  <a:cubicBezTo>
                    <a:pt x="788915" y="1051514"/>
                    <a:pt x="776269" y="1056752"/>
                    <a:pt x="763084" y="1056752"/>
                  </a:cubicBezTo>
                  <a:lnTo>
                    <a:pt x="49716" y="1056752"/>
                  </a:lnTo>
                  <a:cubicBezTo>
                    <a:pt x="36531" y="1056752"/>
                    <a:pt x="23885" y="1051514"/>
                    <a:pt x="14562" y="1042191"/>
                  </a:cubicBezTo>
                  <a:cubicBezTo>
                    <a:pt x="5238" y="1032867"/>
                    <a:pt x="0" y="1020222"/>
                    <a:pt x="0" y="1007036"/>
                  </a:cubicBezTo>
                  <a:lnTo>
                    <a:pt x="0" y="49716"/>
                  </a:lnTo>
                  <a:cubicBezTo>
                    <a:pt x="0" y="36531"/>
                    <a:pt x="5238" y="23885"/>
                    <a:pt x="14562" y="14562"/>
                  </a:cubicBezTo>
                  <a:cubicBezTo>
                    <a:pt x="23885" y="5238"/>
                    <a:pt x="36531" y="0"/>
                    <a:pt x="49716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6176504" y="61454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7"/>
                </a:lnTo>
                <a:lnTo>
                  <a:pt x="0" y="131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897978"/>
            <a:ext cx="16230600" cy="6360322"/>
          </a:xfrm>
          <a:custGeom>
            <a:avLst/>
            <a:gdLst/>
            <a:ahLst/>
            <a:cxnLst/>
            <a:rect l="l" t="t" r="r" b="b"/>
            <a:pathLst>
              <a:path w="16230600" h="6360322">
                <a:moveTo>
                  <a:pt x="0" y="0"/>
                </a:moveTo>
                <a:lnTo>
                  <a:pt x="16230600" y="0"/>
                </a:lnTo>
                <a:lnTo>
                  <a:pt x="16230600" y="6360322"/>
                </a:lnTo>
                <a:lnTo>
                  <a:pt x="0" y="6360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9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1190625"/>
            <a:ext cx="16230600" cy="113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9"/>
              </a:lnSpc>
              <a:spcBef>
                <a:spcPct val="0"/>
              </a:spcBef>
            </a:pPr>
            <a:r>
              <a:rPr lang="en-US" sz="8499" spc="-16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CI / CD in Google Cloud Platform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627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15006" r="-1500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8696502" y="1443228"/>
            <a:ext cx="9591498" cy="1187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75"/>
              </a:lnSpc>
              <a:spcBef>
                <a:spcPct val="0"/>
              </a:spcBef>
            </a:pPr>
            <a:r>
              <a:rPr lang="en-US" sz="8875" spc="-177">
                <a:solidFill>
                  <a:srgbClr val="E0E6F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GCP Tools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67700" y="2921928"/>
            <a:ext cx="9484267" cy="7291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0585" lvl="1" indent="-385292" algn="l">
              <a:lnSpc>
                <a:spcPts val="5817"/>
              </a:lnSpc>
              <a:buFont typeface="Arial"/>
              <a:buChar char="•"/>
            </a:pPr>
            <a:r>
              <a:rPr lang="en-US" sz="3569" b="1" spc="-71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Cloud Build:</a:t>
            </a:r>
            <a:r>
              <a:rPr lang="en-US" sz="3569" spc="-71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Builds and tests your code automatically on every commit.</a:t>
            </a:r>
          </a:p>
          <a:p>
            <a:pPr marL="770585" lvl="1" indent="-385292" algn="l">
              <a:lnSpc>
                <a:spcPts val="5817"/>
              </a:lnSpc>
              <a:buFont typeface="Arial"/>
              <a:buChar char="•"/>
            </a:pPr>
            <a:r>
              <a:rPr lang="en-US" sz="3569" b="1" spc="-71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Cloud Deploy: </a:t>
            </a:r>
            <a:r>
              <a:rPr lang="en-US" sz="3569" spc="-71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Manages automated deployments to GKE, Cloud Run, or Compute Engine.</a:t>
            </a:r>
          </a:p>
          <a:p>
            <a:pPr marL="770585" lvl="1" indent="-385292" algn="l">
              <a:lnSpc>
                <a:spcPts val="5817"/>
              </a:lnSpc>
              <a:buFont typeface="Arial"/>
              <a:buChar char="•"/>
            </a:pPr>
            <a:r>
              <a:rPr lang="en-US" sz="3569" b="1" spc="-71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Artifact Registry:</a:t>
            </a:r>
            <a:r>
              <a:rPr lang="en-US" sz="3569" spc="-71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Stores and manages build artifacts like Docker images securely.</a:t>
            </a:r>
          </a:p>
          <a:p>
            <a:pPr marL="770585" lvl="1" indent="-385292" algn="l">
              <a:lnSpc>
                <a:spcPts val="5817"/>
              </a:lnSpc>
              <a:buFont typeface="Arial"/>
              <a:buChar char="•"/>
            </a:pPr>
            <a:r>
              <a:rPr lang="en-US" sz="3569" b="1" spc="-71">
                <a:solidFill>
                  <a:srgbClr val="E0E6F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Cloud Run:</a:t>
            </a:r>
            <a:r>
              <a:rPr lang="en-US" sz="3569" spc="-71">
                <a:solidFill>
                  <a:srgbClr val="E0E6F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Runs containerized applications in a fully managed, serverless environment.</a:t>
            </a:r>
          </a:p>
          <a:p>
            <a:pPr marL="0" lvl="0" indent="0" algn="l">
              <a:lnSpc>
                <a:spcPts val="5817"/>
              </a:lnSpc>
            </a:pPr>
            <a:endParaRPr lang="en-US" sz="3569" spc="-71">
              <a:solidFill>
                <a:srgbClr val="E0E6F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00712" y="4121150"/>
            <a:ext cx="6886575" cy="113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9"/>
              </a:lnSpc>
              <a:spcBef>
                <a:spcPct val="0"/>
              </a:spcBef>
            </a:pPr>
            <a:r>
              <a:rPr lang="en-US" sz="8499" spc="-169">
                <a:solidFill>
                  <a:srgbClr val="E0E6F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-700808" y="6607510"/>
            <a:ext cx="3459016" cy="4461104"/>
          </a:xfrm>
          <a:custGeom>
            <a:avLst/>
            <a:gdLst/>
            <a:ahLst/>
            <a:cxnLst/>
            <a:rect l="l" t="t" r="r" b="b"/>
            <a:pathLst>
              <a:path w="3459016" h="4461104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939</Words>
  <Application>Microsoft Office PowerPoint</Application>
  <PresentationFormat>Custom</PresentationFormat>
  <Paragraphs>116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Cooper BT Light</vt:lpstr>
      <vt:lpstr>Calibri</vt:lpstr>
      <vt:lpstr>Cooper BT Medium</vt:lpstr>
      <vt:lpstr>Georgia Pro Light</vt:lpstr>
      <vt:lpstr>TT Interphases</vt:lpstr>
      <vt:lpstr>Arial</vt:lpstr>
      <vt:lpstr>TT Interphases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Tracking-System-Application Presentation</dc:title>
  <dc:description>Presentation - Tracking-System-Application Presentation</dc:description>
  <cp:lastModifiedBy>Vishwanatham, Saketh</cp:lastModifiedBy>
  <cp:revision>1</cp:revision>
  <dcterms:created xsi:type="dcterms:W3CDTF">2006-08-16T00:00:00Z</dcterms:created>
  <dcterms:modified xsi:type="dcterms:W3CDTF">2025-11-11T07:09:03Z</dcterms:modified>
  <dc:identifier>DAG1-gzraaM</dc:identifier>
</cp:coreProperties>
</file>